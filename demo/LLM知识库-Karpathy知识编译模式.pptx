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"/>
            <a:ext cx="146304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PingFang SC"/>
              </a:rPr>
              <a:t>LLM 知识库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46304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55570"/>
                </a:solidFill>
                <a:latin typeface="PingFang SC"/>
              </a:rPr>
              <a:t>KARPATHY 知识编译模式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40000"/>
            <a:ext cx="146304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70"/>
                </a:solidFill>
                <a:latin typeface="PingFang SC"/>
              </a:rPr>
              <a:t>架  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0000" y="1800000"/>
            <a:ext cx="2520000" cy="1080000"/>
          </a:xfrm>
          <a:prstGeom prst="roundRect">
            <a:avLst/>
          </a:prstGeom>
          <a:solidFill>
            <a:srgbClr val="1A2A40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2016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88BBFF"/>
                </a:solidFill>
                <a:latin typeface="PingFang SC"/>
              </a:rPr>
              <a:t>📁 原始资料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2448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不可变 · 只读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0" y="20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— 读取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0000" y="1800000"/>
            <a:ext cx="2520000" cy="1080000"/>
          </a:xfrm>
          <a:prstGeom prst="roundRect">
            <a:avLst/>
          </a:prstGeom>
          <a:solidFill>
            <a:srgbClr val="1A302A"/>
          </a:solidFill>
          <a:ln w="25400">
            <a:solidFill>
              <a:srgbClr val="33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0" y="2016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BB"/>
                </a:solidFill>
                <a:latin typeface="PingFang SC"/>
              </a:rPr>
              <a:t>📒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0" y="2448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LLM 管理的 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0" y="20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← 指导 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0" y="1800000"/>
            <a:ext cx="2700000" cy="1080000"/>
          </a:xfrm>
          <a:prstGeom prst="roundRect">
            <a:avLst/>
          </a:prstGeom>
          <a:solidFill>
            <a:srgbClr val="221A3A"/>
          </a:solidFill>
          <a:ln w="25400">
            <a:solidFill>
              <a:srgbClr val="77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0" y="2016000"/>
            <a:ext cx="27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AA88FF"/>
                </a:solidFill>
                <a:latin typeface="PingFang SC"/>
              </a:rPr>
              <a:t>⚙️ 模式规范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0" y="2448000"/>
            <a:ext cx="27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CLAUDE.md / AGENTS.md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311999"/>
            <a:ext cx="146304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70"/>
                </a:solidFill>
                <a:latin typeface="PingFang SC"/>
              </a:rPr>
              <a:t>操  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20000" y="3671999"/>
            <a:ext cx="2520000" cy="1080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0000" y="3887999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88BB"/>
                </a:solidFill>
                <a:latin typeface="PingFang SC"/>
              </a:rPr>
              <a:t>📥 摄入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4319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源文件 → 知识库更新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0000" y="3671999"/>
            <a:ext cx="2520000" cy="1080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0000" y="3887999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🔍 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0000" y="4319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问题 → 综合回答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0000" y="3671999"/>
            <a:ext cx="2520000" cy="1080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0000" y="3887999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88FF"/>
                </a:solidFill>
                <a:latin typeface="PingFang SC"/>
              </a:rPr>
              <a:t>🔧 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4319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健康检查 · 一致性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2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读取源文件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写入摘要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2000" y="5400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更新索引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31999" y="5400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交叉链接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搜索索引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综合信息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0000" y="5400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归档回知识库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发现问题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80000" y="49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修复补丁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8000" y="5400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建议来源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120000"/>
            <a:ext cx="146304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55570"/>
                </a:solidFill>
                <a:latin typeface="PingFang SC"/>
              </a:rPr>
              <a:t>参 与 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000" y="6480000"/>
            <a:ext cx="2880000" cy="1080000"/>
          </a:xfrm>
          <a:prstGeom prst="roundRect">
            <a:avLst/>
          </a:prstGeom>
          <a:solidFill>
            <a:srgbClr val="1A2A40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000" y="6696000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🧑 人类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0" y="7128000"/>
            <a:ext cx="2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策划 · 提问 · 思考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0" y="6480000"/>
            <a:ext cx="2880000" cy="1080000"/>
          </a:xfrm>
          <a:prstGeom prst="roundRect">
            <a:avLst/>
          </a:prstGeom>
          <a:solidFill>
            <a:srgbClr val="1A302A"/>
          </a:solidFill>
          <a:ln w="25400">
            <a:solidFill>
              <a:srgbClr val="33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0" y="6696000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BB"/>
                </a:solidFill>
                <a:latin typeface="PingFang SC"/>
              </a:rPr>
              <a:t>🤖 LLM 代理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0" y="7128000"/>
            <a:ext cx="28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总结 · 交叉引用 · 维护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880000" y="4752000"/>
            <a:ext cx="1440000" cy="1728000"/>
          </a:xfrm>
          <a:prstGeom prst="line">
            <a:avLst/>
          </a:prstGeom>
          <a:ln w="15240">
            <a:solidFill>
              <a:srgbClr val="4444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0000" y="4752000"/>
            <a:ext cx="5760000" cy="1728000"/>
          </a:xfrm>
          <a:prstGeom prst="line">
            <a:avLst/>
          </a:prstGeom>
          <a:ln w="15240">
            <a:solidFill>
              <a:srgbClr val="4444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320000" y="4752000"/>
            <a:ext cx="2160000" cy="1728000"/>
          </a:xfrm>
          <a:prstGeom prst="line">
            <a:avLst/>
          </a:prstGeom>
          <a:ln w="15240">
            <a:solidFill>
              <a:srgbClr val="4444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80000" y="4752000"/>
            <a:ext cx="2160000" cy="1728000"/>
          </a:xfrm>
          <a:prstGeom prst="line">
            <a:avLst/>
          </a:prstGeom>
          <a:ln w="15240">
            <a:solidFill>
              <a:srgbClr val="4444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640000" y="4752000"/>
            <a:ext cx="1440000" cy="1728000"/>
          </a:xfrm>
          <a:prstGeom prst="line">
            <a:avLst/>
          </a:prstGeom>
          <a:ln w="15240">
            <a:solidFill>
              <a:srgbClr val="4444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"/>
            <a:ext cx="146304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LLM 知识库 · 双层架构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46304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55570"/>
                </a:solidFill>
                <a:latin typeface="PingFang SC"/>
              </a:rPr>
              <a:t>编译层（机器维护）  +  出版层（人类阅读）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57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AA55"/>
                </a:solidFill>
                <a:latin typeface="PingFang SC"/>
              </a:rPr>
              <a:t>编 译 层  ·  机 器 维 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728000"/>
            <a:ext cx="5760000" cy="4500000"/>
          </a:xfrm>
          <a:prstGeom prst="roundRect">
            <a:avLst/>
          </a:prstGeom>
          <a:solidFill>
            <a:srgbClr val="1A1A28"/>
          </a:solidFill>
          <a:ln w="25400">
            <a:solidFill>
              <a:srgbClr val="FF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80000"/>
            <a:ext cx="2160000" cy="936000"/>
          </a:xfrm>
          <a:prstGeom prst="roundRect">
            <a:avLst/>
          </a:prstGeom>
          <a:solidFill>
            <a:srgbClr val="1A2A40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196000"/>
            <a:ext cx="21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88BBFF"/>
                </a:solidFill>
                <a:latin typeface="PingFang SC"/>
              </a:rPr>
              <a:t>📁 原始资料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628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不可变 · 只读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0000" y="2196000"/>
            <a:ext cx="9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666680"/>
                </a:solidFill>
                <a:latin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980000"/>
            <a:ext cx="2520000" cy="936000"/>
          </a:xfrm>
          <a:prstGeom prst="roundRect">
            <a:avLst/>
          </a:prstGeom>
          <a:solidFill>
            <a:srgbClr val="1A302A"/>
          </a:solidFill>
          <a:ln w="25400">
            <a:solidFill>
              <a:srgbClr val="33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0" y="2196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BB"/>
                </a:solidFill>
                <a:latin typeface="PingFang SC"/>
              </a:rPr>
              <a:t>📒 编译知识库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2628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碎片化 · 强索引 · 交叉链接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3168000"/>
            <a:ext cx="1152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小文件粒度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60000" y="3168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向量嵌入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6000" y="3168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Frontmatter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8000" y="3168000"/>
            <a:ext cx="1080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Token 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360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冗余但精确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2000" y="3600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自动更新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8000" y="360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多粒度副本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4176000"/>
            <a:ext cx="1512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4392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88BB"/>
                </a:solidFill>
                <a:latin typeface="PingFang SC"/>
              </a:rPr>
              <a:t>📥 摄入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4824000"/>
            <a:ext cx="15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源 → 碎片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8000" y="4176000"/>
            <a:ext cx="1512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8000" y="4392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🔍 查询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000" y="4824000"/>
            <a:ext cx="15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检索 → 注入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6000" y="4176000"/>
            <a:ext cx="1512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6000" y="4392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88FF"/>
                </a:solidFill>
                <a:latin typeface="PingFang SC"/>
              </a:rPr>
              <a:t>🔧 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6000" y="4824000"/>
            <a:ext cx="15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一致性校验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60000" y="5184000"/>
            <a:ext cx="2520000" cy="864000"/>
          </a:xfrm>
          <a:prstGeom prst="roundRect">
            <a:avLst/>
          </a:prstGeom>
          <a:solidFill>
            <a:srgbClr val="1A302A"/>
          </a:solidFill>
          <a:ln w="25400">
            <a:solidFill>
              <a:srgbClr val="33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000" y="5400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BB"/>
                </a:solidFill>
                <a:latin typeface="PingFang SC"/>
              </a:rPr>
              <a:t>🤖 LLM 代理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5832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自动维护 · 索引 · 链接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0000" y="1440000"/>
            <a:ext cx="57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5EEEE"/>
                </a:solidFill>
                <a:latin typeface="PingFang SC"/>
              </a:rPr>
              <a:t>出 版 层  ·  人 类 阅 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0000" y="1728000"/>
            <a:ext cx="5760000" cy="4500000"/>
          </a:xfrm>
          <a:prstGeom prst="roundRect">
            <a:avLst/>
          </a:prstGeom>
          <a:solidFill>
            <a:srgbClr val="1A1A28"/>
          </a:solidFill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80000" y="1980000"/>
            <a:ext cx="2520000" cy="936000"/>
          </a:xfrm>
          <a:prstGeom prst="roundRect">
            <a:avLst/>
          </a:prstGeom>
          <a:solidFill>
            <a:srgbClr val="1A2A35"/>
          </a:solidFill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0000" y="2196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EE"/>
                </a:solidFill>
                <a:latin typeface="PingFang SC"/>
              </a:rPr>
              <a:t>📖 出版知识库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0000" y="2628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叙事化 · 聚合 · 连贯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60000" y="1980000"/>
            <a:ext cx="1980000" cy="936000"/>
          </a:xfrm>
          <a:prstGeom prst="roundRect">
            <a:avLst/>
          </a:prstGeom>
          <a:solidFill>
            <a:srgbClr val="221A3A"/>
          </a:solidFill>
          <a:ln w="25400">
            <a:solidFill>
              <a:srgbClr val="77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0000" y="2196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AA88FF"/>
                </a:solidFill>
                <a:latin typeface="PingFang SC"/>
              </a:rPr>
              <a:t>📤 输出格式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0000" y="2628000"/>
            <a:ext cx="19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文档 · 报告 · 图表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0000" y="3168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按主题聚合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2000" y="3168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有上下文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8000" y="3168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去重精简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80000" y="3168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可读优先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80000" y="3600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目录导航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96000" y="3600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摘要总结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12000" y="360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可视化图表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80000" y="4176000"/>
            <a:ext cx="1512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0000" y="4392000"/>
            <a:ext cx="15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88BB"/>
                </a:solidFill>
                <a:latin typeface="PingFang SC"/>
              </a:rPr>
              <a:t>✍️ 编辑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0000" y="4824000"/>
            <a:ext cx="1512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整合 → 叙事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08000" y="4176000"/>
            <a:ext cx="1620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8000" y="4392000"/>
            <a:ext cx="16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📊 可视化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08000" y="4824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数据 → 图表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08000" y="4176000"/>
            <a:ext cx="1440000" cy="792000"/>
          </a:xfrm>
          <a:prstGeom prst="roundRect">
            <a:avLst/>
          </a:prstGeom>
          <a:solidFill>
            <a:srgbClr val="2A1A2A"/>
          </a:solidFill>
          <a:ln w="25400">
            <a:solidFill>
              <a:srgbClr val="CC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08000" y="4392000"/>
            <a:ext cx="1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88FF"/>
                </a:solidFill>
                <a:latin typeface="PingFang SC"/>
              </a:rPr>
              <a:t>✅ 审核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08000" y="4824000"/>
            <a:ext cx="1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质量把关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40000" y="5184000"/>
            <a:ext cx="2520000" cy="864000"/>
          </a:xfrm>
          <a:prstGeom prst="roundRect">
            <a:avLst/>
          </a:prstGeom>
          <a:solidFill>
            <a:srgbClr val="1A2A40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0000" y="5400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🧑 人类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0000" y="5832000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策划 · 审核 · 标注质量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28000" y="2160000"/>
            <a:ext cx="9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77"/>
                </a:solidFill>
                <a:latin typeface="PingFang SC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8000" y="2448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66680"/>
                </a:solidFill>
                <a:latin typeface="PingFang SC"/>
              </a:rPr>
              <a:t>素材供给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8000" y="5328000"/>
            <a:ext cx="9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77"/>
                </a:solidFill>
                <a:latin typeface="PingFang SC"/>
              </a:rPr>
              <a:t>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28000" y="5616000"/>
            <a:ext cx="9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66680"/>
                </a:solidFill>
                <a:latin typeface="PingFang SC"/>
              </a:rPr>
              <a:t>质量信号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52000" y="2340000"/>
            <a:ext cx="0" cy="360000"/>
          </a:xfrm>
          <a:prstGeom prst="line">
            <a:avLst/>
          </a:prstGeom>
          <a:ln w="15240">
            <a:solidFill>
              <a:srgbClr val="5555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552000" y="5220000"/>
            <a:ext cx="0" cy="360000"/>
          </a:xfrm>
          <a:prstGeom prst="line">
            <a:avLst/>
          </a:prstGeom>
          <a:ln w="15240">
            <a:solidFill>
              <a:srgbClr val="5555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"/>
            <a:ext cx="146304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双层数据流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46304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55570"/>
                </a:solidFill>
                <a:latin typeface="PingFang SC"/>
              </a:rPr>
              <a:t>编译层与出版层之间的协作循环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AA55"/>
                </a:solidFill>
                <a:latin typeface="PingFang SC"/>
              </a:rPr>
              <a:t>编译层（LLM 维护）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2088000"/>
            <a:ext cx="1980000" cy="900000"/>
          </a:xfrm>
          <a:prstGeom prst="roundRect">
            <a:avLst/>
          </a:prstGeom>
          <a:solidFill>
            <a:srgbClr val="1A2A40"/>
          </a:solidFill>
          <a:ln w="2540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304000"/>
            <a:ext cx="19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88BBFF"/>
                </a:solidFill>
                <a:latin typeface="PingFang SC"/>
              </a:rPr>
              <a:t>📁 原始资料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736000"/>
            <a:ext cx="19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代码 · 文档 ·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304000"/>
            <a:ext cx="5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666680"/>
                </a:solidFill>
                <a:latin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2088000"/>
            <a:ext cx="2160000" cy="900000"/>
          </a:xfrm>
          <a:prstGeom prst="roundRect">
            <a:avLst/>
          </a:prstGeom>
          <a:solidFill>
            <a:srgbClr val="1A302A"/>
          </a:solidFill>
          <a:ln w="25400">
            <a:solidFill>
              <a:srgbClr val="33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0" y="2304000"/>
            <a:ext cx="21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BB"/>
                </a:solidFill>
                <a:latin typeface="PingFang SC"/>
              </a:rPr>
              <a:t>🤖 LLM 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2736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摄入 · 索引 · 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0" y="1620000"/>
            <a:ext cx="50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55EEEE"/>
                </a:solidFill>
                <a:latin typeface="PingFang SC"/>
              </a:rPr>
              <a:t>出版层（人类消费）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0000" y="2088000"/>
            <a:ext cx="2160000" cy="900000"/>
          </a:xfrm>
          <a:prstGeom prst="roundRect">
            <a:avLst/>
          </a:prstGeom>
          <a:solidFill>
            <a:srgbClr val="1A2A35"/>
          </a:solidFill>
          <a:ln w="25400">
            <a:solidFill>
              <a:srgbClr val="33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0" y="2304000"/>
            <a:ext cx="21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55EEEE"/>
                </a:solidFill>
                <a:latin typeface="PingFang SC"/>
              </a:rPr>
              <a:t>📖 知识出版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0" y="2736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叙事 · 图表 · 导航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00" y="2304000"/>
            <a:ext cx="5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666680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60000" y="2088000"/>
            <a:ext cx="2160000" cy="900000"/>
          </a:xfrm>
          <a:prstGeom prst="roundRect">
            <a:avLst/>
          </a:prstGeom>
          <a:solidFill>
            <a:srgbClr val="221A3A"/>
          </a:solidFill>
          <a:ln w="25400">
            <a:solidFill>
              <a:srgbClr val="77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60000" y="2304000"/>
            <a:ext cx="21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CC55"/>
                </a:solidFill>
                <a:latin typeface="PingFang SC"/>
              </a:rPr>
              <a:t>🧑 人类阅读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000" y="2736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66680"/>
                </a:solidFill>
                <a:latin typeface="PingFang SC"/>
              </a:rPr>
              <a:t>理解 · 决策 · 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0" y="3420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FAA55"/>
                </a:solidFill>
                <a:latin typeface="PingFang SC"/>
              </a:rPr>
              <a:t>─── 素材供给 ──────→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0000" y="396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碎片化知识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48000" y="396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结构化数据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6000" y="396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交叉引用图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3924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FAA55"/>
                </a:solidFill>
                <a:latin typeface="PingFang S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0000" y="3960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聚合成文章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8000" y="3960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生成图表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0000" y="3960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构建目录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0" y="4860000"/>
            <a:ext cx="32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5EEEE"/>
                </a:solidFill>
                <a:latin typeface="PingFang SC"/>
              </a:rPr>
              <a:t>←────── 质量信号 ───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0000" y="5472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标注错误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2000" y="5472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补充来源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24000" y="5472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优先级排序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5436000"/>
            <a:ext cx="7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55EEEE"/>
                </a:solidFill>
                <a:latin typeface="PingFang SC"/>
              </a:rPr>
              <a:t>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000" y="5472000"/>
            <a:ext cx="1224000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修正知识图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48000" y="5472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重新摄入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0" y="5472000"/>
            <a:ext cx="1007999" cy="324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>
                <a:solidFill>
                  <a:srgbClr val="9999BB"/>
                </a:solidFill>
                <a:latin typeface="PingFang SC"/>
              </a:rPr>
              <a:t>更新索引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6480000"/>
            <a:ext cx="131904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888AA"/>
                </a:solidFill>
                <a:latin typeface="PingFang SC"/>
              </a:rPr>
              <a:t>编译层为出版层提供素材 ← → 出版层为编译层提供质量信号
形成持续改进的闭环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